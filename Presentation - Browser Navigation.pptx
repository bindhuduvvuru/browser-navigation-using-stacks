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eorgia Pro Light" charset="1" panose="02040302050405020303"/>
      <p:regular r:id="rId18"/>
    </p:embeddedFont>
    <p:embeddedFont>
      <p:font typeface="Georgia Pro" charset="1" panose="02040502050405020303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631439" cy="10287000"/>
            <a:chOff x="0" y="0"/>
            <a:chExt cx="994069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069" cy="1184737"/>
            </a:xfrm>
            <a:custGeom>
              <a:avLst/>
              <a:gdLst/>
              <a:ahLst/>
              <a:cxnLst/>
              <a:rect r="r" b="b" t="t" l="l"/>
              <a:pathLst>
                <a:path h="1184737" w="994069">
                  <a:moveTo>
                    <a:pt x="0" y="0"/>
                  </a:moveTo>
                  <a:lnTo>
                    <a:pt x="994069" y="0"/>
                  </a:lnTo>
                  <a:lnTo>
                    <a:pt x="994069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-1694" t="0" r="-169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4478C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Tech Innovations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57158" y="1820985"/>
            <a:ext cx="10163714" cy="249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75"/>
              </a:lnSpc>
            </a:pPr>
            <a:r>
              <a:rPr lang="en-US" sz="6475">
                <a:solidFill>
                  <a:srgbClr val="2A4D9B"/>
                </a:solidFill>
                <a:latin typeface="Georgia Pro"/>
                <a:ea typeface="Georgia Pro"/>
                <a:cs typeface="Georgia Pro"/>
                <a:sym typeface="Georgia Pro"/>
              </a:rPr>
              <a:t>Advanced </a:t>
            </a:r>
            <a:r>
              <a:rPr lang="en-US" sz="6475">
                <a:solidFill>
                  <a:srgbClr val="2A4D9B"/>
                </a:solidFill>
                <a:latin typeface="Georgia Pro"/>
                <a:ea typeface="Georgia Pro"/>
                <a:cs typeface="Georgia Pro"/>
                <a:sym typeface="Georgia Pro"/>
              </a:rPr>
              <a:t>Browser Navigation System Using Stacks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29059" y="6534919"/>
            <a:ext cx="6464827" cy="2533490"/>
            <a:chOff x="0" y="0"/>
            <a:chExt cx="8619769" cy="33779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25846"/>
              <a:ext cx="8619769" cy="2652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26"/>
                </a:lnSpc>
                <a:spcBef>
                  <a:spcPct val="0"/>
                </a:spcBef>
              </a:pPr>
              <a:r>
                <a:rPr lang="en-US" sz="2876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• B. T</a:t>
              </a:r>
              <a:r>
                <a:rPr lang="en-US" sz="2876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hanishka—AP24110011830</a:t>
              </a:r>
            </a:p>
            <a:p>
              <a:pPr algn="l" marL="0" indent="0" lvl="0">
                <a:lnSpc>
                  <a:spcPts val="4026"/>
                </a:lnSpc>
                <a:spcBef>
                  <a:spcPct val="0"/>
                </a:spcBef>
              </a:pPr>
              <a:r>
                <a:rPr lang="en-US" sz="2876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• M. Harika — AP24110011839</a:t>
              </a:r>
            </a:p>
            <a:p>
              <a:pPr algn="l" marL="0" indent="0" lvl="0">
                <a:lnSpc>
                  <a:spcPts val="4026"/>
                </a:lnSpc>
                <a:spcBef>
                  <a:spcPct val="0"/>
                </a:spcBef>
              </a:pPr>
              <a:r>
                <a:rPr lang="en-US" sz="2876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• G. Sourabi — AP24110011844</a:t>
              </a:r>
            </a:p>
            <a:p>
              <a:pPr algn="l" marL="0" indent="0" lvl="0">
                <a:lnSpc>
                  <a:spcPts val="4026"/>
                </a:lnSpc>
                <a:spcBef>
                  <a:spcPct val="0"/>
                </a:spcBef>
              </a:pPr>
              <a:r>
                <a:rPr lang="en-US" sz="2876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• D. Bindhu — AP24110011845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65810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4478C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373868" y="4844533"/>
            <a:ext cx="8247382" cy="62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4"/>
              </a:lnSpc>
              <a:spcBef>
                <a:spcPct val="0"/>
              </a:spcBef>
            </a:pPr>
            <a:r>
              <a:rPr lang="en-US" sz="4331">
                <a:solidFill>
                  <a:srgbClr val="2A4D9B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Data Structures –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0789" y="3581637"/>
            <a:ext cx="10863909" cy="6207948"/>
          </a:xfrm>
          <a:custGeom>
            <a:avLst/>
            <a:gdLst/>
            <a:ahLst/>
            <a:cxnLst/>
            <a:rect r="r" b="b" t="t" l="l"/>
            <a:pathLst>
              <a:path h="6207948" w="10863909">
                <a:moveTo>
                  <a:pt x="0" y="0"/>
                </a:moveTo>
                <a:lnTo>
                  <a:pt x="10863909" y="0"/>
                </a:lnTo>
                <a:lnTo>
                  <a:pt x="10863909" y="6207948"/>
                </a:lnTo>
                <a:lnTo>
                  <a:pt x="0" y="6207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9059"/>
            <a:ext cx="15088087" cy="2858486"/>
            <a:chOff x="0" y="0"/>
            <a:chExt cx="20117450" cy="381131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7150"/>
              <a:ext cx="20117450" cy="1300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75"/>
                </a:lnSpc>
              </a:pPr>
              <a:r>
                <a:rPr lang="en-US" sz="6704">
                  <a:solidFill>
                    <a:srgbClr val="2A4D9B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Introduction to Navigation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41356"/>
              <a:ext cx="20117450" cy="2169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03"/>
                </a:lnSpc>
              </a:pPr>
              <a:r>
                <a:rPr lang="en-US" sz="314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Efficient navigation systems are essential for enhancing user experience. They streamline user interactions with web browsers, ensuring smooth transitions and access to previously visited pages.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02108" y="3028950"/>
            <a:ext cx="875719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>
                <a:solidFill>
                  <a:srgbClr val="2A4D9B"/>
                </a:solidFill>
                <a:latin typeface="Georgia Pro"/>
                <a:ea typeface="Georgia Pro"/>
                <a:cs typeface="Georgia Pro"/>
                <a:sym typeface="Georgia Pro"/>
              </a:rPr>
              <a:t>Navigation Model Challenges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02108" y="6212334"/>
            <a:ext cx="8757192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Traditional browser navigation systems struggle with limited history handling and often lead to poor user control, resulting in frustration when trying to trace navigation paths effectively.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384639"/>
            <a:ext cx="7083511" cy="11056278"/>
            <a:chOff x="0" y="0"/>
            <a:chExt cx="4048125" cy="6318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48125" cy="6318250"/>
            </a:xfrm>
            <a:custGeom>
              <a:avLst/>
              <a:gdLst/>
              <a:ahLst/>
              <a:cxnLst/>
              <a:rect r="r" b="b" t="t" l="l"/>
              <a:pathLst>
                <a:path h="6318250" w="4048125">
                  <a:moveTo>
                    <a:pt x="3945509" y="2967609"/>
                  </a:moveTo>
                  <a:cubicBezTo>
                    <a:pt x="3865245" y="3082290"/>
                    <a:pt x="3865245" y="3236087"/>
                    <a:pt x="3945509" y="3350768"/>
                  </a:cubicBezTo>
                  <a:cubicBezTo>
                    <a:pt x="4010152" y="3443097"/>
                    <a:pt x="4048125" y="3555619"/>
                    <a:pt x="4048125" y="3676904"/>
                  </a:cubicBezTo>
                  <a:cubicBezTo>
                    <a:pt x="4048125" y="3798189"/>
                    <a:pt x="4010152" y="3910711"/>
                    <a:pt x="3945509" y="4003040"/>
                  </a:cubicBezTo>
                  <a:cubicBezTo>
                    <a:pt x="3865245" y="4117721"/>
                    <a:pt x="3865245" y="4271518"/>
                    <a:pt x="3945509" y="4386199"/>
                  </a:cubicBezTo>
                  <a:cubicBezTo>
                    <a:pt x="4010152" y="4478528"/>
                    <a:pt x="4048125" y="4591050"/>
                    <a:pt x="4048125" y="4712335"/>
                  </a:cubicBezTo>
                  <a:cubicBezTo>
                    <a:pt x="4048125" y="4833620"/>
                    <a:pt x="4010152" y="4946142"/>
                    <a:pt x="3945509" y="5038471"/>
                  </a:cubicBezTo>
                  <a:cubicBezTo>
                    <a:pt x="3865245" y="5153152"/>
                    <a:pt x="3865245" y="5306949"/>
                    <a:pt x="3945509" y="5421630"/>
                  </a:cubicBezTo>
                  <a:cubicBezTo>
                    <a:pt x="4010152" y="5513959"/>
                    <a:pt x="4048125" y="5626481"/>
                    <a:pt x="4048125" y="5747766"/>
                  </a:cubicBezTo>
                  <a:cubicBezTo>
                    <a:pt x="4048125" y="6054217"/>
                    <a:pt x="3806190" y="6304026"/>
                    <a:pt x="3502914" y="6316853"/>
                  </a:cubicBezTo>
                  <a:lnTo>
                    <a:pt x="3502914" y="6318250"/>
                  </a:lnTo>
                  <a:lnTo>
                    <a:pt x="0" y="6318250"/>
                  </a:lnTo>
                  <a:lnTo>
                    <a:pt x="0" y="0"/>
                  </a:lnTo>
                  <a:lnTo>
                    <a:pt x="3502914" y="0"/>
                  </a:lnTo>
                  <a:lnTo>
                    <a:pt x="3502914" y="1524"/>
                  </a:lnTo>
                  <a:cubicBezTo>
                    <a:pt x="3509264" y="1778"/>
                    <a:pt x="3515487" y="1905"/>
                    <a:pt x="3521837" y="2413"/>
                  </a:cubicBezTo>
                  <a:cubicBezTo>
                    <a:pt x="3794379" y="22606"/>
                    <a:pt x="4017010" y="238506"/>
                    <a:pt x="4044950" y="510286"/>
                  </a:cubicBezTo>
                  <a:cubicBezTo>
                    <a:pt x="4059682" y="653796"/>
                    <a:pt x="4021074" y="787908"/>
                    <a:pt x="3946525" y="895096"/>
                  </a:cubicBezTo>
                  <a:cubicBezTo>
                    <a:pt x="3866261" y="1010539"/>
                    <a:pt x="3864864" y="1164590"/>
                    <a:pt x="3945509" y="1279779"/>
                  </a:cubicBezTo>
                  <a:cubicBezTo>
                    <a:pt x="4010152" y="1372108"/>
                    <a:pt x="4048125" y="1484630"/>
                    <a:pt x="4048125" y="1605915"/>
                  </a:cubicBezTo>
                  <a:cubicBezTo>
                    <a:pt x="4048125" y="1727200"/>
                    <a:pt x="4010152" y="1839722"/>
                    <a:pt x="3945509" y="1932051"/>
                  </a:cubicBezTo>
                  <a:cubicBezTo>
                    <a:pt x="3865245" y="2046732"/>
                    <a:pt x="3865245" y="2200529"/>
                    <a:pt x="3945509" y="2315210"/>
                  </a:cubicBezTo>
                  <a:cubicBezTo>
                    <a:pt x="4010152" y="2407539"/>
                    <a:pt x="4048125" y="2520061"/>
                    <a:pt x="4048125" y="2641346"/>
                  </a:cubicBezTo>
                  <a:cubicBezTo>
                    <a:pt x="4048125" y="2762885"/>
                    <a:pt x="4010152" y="2875280"/>
                    <a:pt x="3945509" y="2967609"/>
                  </a:cubicBezTo>
                  <a:close/>
                </a:path>
              </a:pathLst>
            </a:custGeom>
            <a:blipFill>
              <a:blip r:embed="rId2"/>
              <a:stretch>
                <a:fillRect l="-7066" t="0" r="-706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68714" y="808291"/>
            <a:ext cx="7541220" cy="7922650"/>
          </a:xfrm>
          <a:custGeom>
            <a:avLst/>
            <a:gdLst/>
            <a:ahLst/>
            <a:cxnLst/>
            <a:rect r="r" b="b" t="t" l="l"/>
            <a:pathLst>
              <a:path h="7922650" w="7541220">
                <a:moveTo>
                  <a:pt x="0" y="0"/>
                </a:moveTo>
                <a:lnTo>
                  <a:pt x="7541220" y="0"/>
                </a:lnTo>
                <a:lnTo>
                  <a:pt x="7541220" y="7922651"/>
                </a:lnTo>
                <a:lnTo>
                  <a:pt x="0" y="7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70" t="0" r="-747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901964" cy="6220960"/>
            <a:chOff x="0" y="0"/>
            <a:chExt cx="11869285" cy="82946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5725"/>
              <a:ext cx="11869285" cy="210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908"/>
                </a:lnSpc>
              </a:pPr>
              <a:r>
                <a:rPr lang="en-US" sz="10826">
                  <a:solidFill>
                    <a:srgbClr val="2A4D9B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640301"/>
              <a:ext cx="11869285" cy="5654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58"/>
                </a:lnSpc>
              </a:pPr>
              <a:r>
                <a:rPr lang="en-US" sz="404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The aim of this project is to design an </a:t>
              </a:r>
              <a:r>
                <a:rPr lang="en-US" b="true" sz="404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navigation system</a:t>
              </a:r>
              <a:r>
                <a:rPr lang="en-US" sz="404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using stacks, improving user control and enhancing browser navigation through effective back and forward functionalities.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8190" y="3788334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1690" y="509180"/>
            <a:ext cx="17621250" cy="2543122"/>
            <a:chOff x="0" y="0"/>
            <a:chExt cx="23495000" cy="33908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234950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A4D9B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Stacks in Navigation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38278"/>
              <a:ext cx="23495000" cy="1352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Stacks are crucial in browser navigation due to their </a:t>
              </a:r>
              <a:r>
                <a:rPr lang="en-US" b="true" sz="29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Last In, First Out (LIFO)</a:t>
              </a:r>
              <a:r>
                <a:rPr lang="en-US" sz="2999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nature, which aligns perfectly with how users move back and forth through their browsing history.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7041" y="0"/>
            <a:ext cx="9430959" cy="10287000"/>
            <a:chOff x="0" y="0"/>
            <a:chExt cx="248387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387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83874">
                  <a:moveTo>
                    <a:pt x="0" y="0"/>
                  </a:moveTo>
                  <a:lnTo>
                    <a:pt x="2483874" y="0"/>
                  </a:lnTo>
                  <a:lnTo>
                    <a:pt x="24838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7EB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483874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55779" y="3285129"/>
            <a:ext cx="7433482" cy="3716741"/>
          </a:xfrm>
          <a:custGeom>
            <a:avLst/>
            <a:gdLst/>
            <a:ahLst/>
            <a:cxnLst/>
            <a:rect r="r" b="b" t="t" l="l"/>
            <a:pathLst>
              <a:path h="3716741" w="7433482">
                <a:moveTo>
                  <a:pt x="0" y="0"/>
                </a:moveTo>
                <a:lnTo>
                  <a:pt x="7433483" y="0"/>
                </a:lnTo>
                <a:lnTo>
                  <a:pt x="7433483" y="3716742"/>
                </a:lnTo>
                <a:lnTo>
                  <a:pt x="0" y="3716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1556" y="1816593"/>
            <a:ext cx="5122944" cy="23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sz="8500">
                <a:solidFill>
                  <a:srgbClr val="2A4D9B"/>
                </a:solidFill>
                <a:latin typeface="Georgia Pro"/>
                <a:ea typeface="Georgia Pro"/>
                <a:cs typeface="Georgia Pro"/>
                <a:sym typeface="Georgia Pro"/>
              </a:rPr>
              <a:t>Benefits of Stacks</a:t>
            </a:r>
          </a:p>
        </p:txBody>
      </p:sp>
      <p:sp>
        <p:nvSpPr>
          <p:cNvPr name="AutoShape 7" id="7"/>
          <p:cNvSpPr/>
          <p:nvPr/>
        </p:nvSpPr>
        <p:spPr>
          <a:xfrm>
            <a:off x="1221556" y="4931270"/>
            <a:ext cx="5122944" cy="0"/>
          </a:xfrm>
          <a:prstGeom prst="line">
            <a:avLst/>
          </a:prstGeom>
          <a:ln cap="flat" w="38100">
            <a:solidFill>
              <a:srgbClr val="E7EB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54025" y="5917707"/>
            <a:ext cx="6461944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stack-based navigation system significantly enhances user experience by providing efficient navigation and robust tracking of history, which leads to improved accuracy and reliability in browsing.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23597" y="1373598"/>
            <a:ext cx="8697595" cy="5011989"/>
          </a:xfrm>
          <a:custGeom>
            <a:avLst/>
            <a:gdLst/>
            <a:ahLst/>
            <a:cxnLst/>
            <a:rect r="r" b="b" t="t" l="l"/>
            <a:pathLst>
              <a:path h="5011989" w="8697595">
                <a:moveTo>
                  <a:pt x="0" y="0"/>
                </a:moveTo>
                <a:lnTo>
                  <a:pt x="8697595" y="0"/>
                </a:lnTo>
                <a:lnTo>
                  <a:pt x="8697595" y="5011989"/>
                </a:lnTo>
                <a:lnTo>
                  <a:pt x="0" y="5011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569" y="66675"/>
            <a:ext cx="10890994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2A4D9B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Methodology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770288"/>
            <a:ext cx="14519023" cy="326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Two stacks are used: Back Stack and Forward Stack.</a:t>
            </a:r>
          </a:p>
          <a:p>
            <a:pPr algn="l">
              <a:lnSpc>
                <a:spcPts val="2868"/>
              </a:lnSpc>
              <a:spcBef>
                <a:spcPct val="0"/>
              </a:spcBef>
            </a:pPr>
          </a:p>
          <a:p>
            <a:pPr algn="l">
              <a:lnSpc>
                <a:spcPts val="2868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Visiting a new website → Push current page to Back stack + Clear Forward stack</a:t>
            </a:r>
          </a:p>
          <a:p>
            <a:pPr algn="l">
              <a:lnSpc>
                <a:spcPts val="2868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2868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Back navigation → Push current page to Forward stack + Pop from Back stack.</a:t>
            </a:r>
          </a:p>
          <a:p>
            <a:pPr algn="l">
              <a:lnSpc>
                <a:spcPts val="2868"/>
              </a:lnSpc>
              <a:spcBef>
                <a:spcPct val="0"/>
              </a:spcBef>
            </a:pPr>
          </a:p>
          <a:p>
            <a:pPr algn="l">
              <a:lnSpc>
                <a:spcPts val="2868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Forward navigation → Push current page to Back stack + Pop from Forward stack.</a:t>
            </a:r>
          </a:p>
          <a:p>
            <a:pPr algn="l">
              <a:lnSpc>
                <a:spcPts val="2868"/>
              </a:lnSpc>
              <a:spcBef>
                <a:spcPct val="0"/>
              </a:spcBef>
            </a:pPr>
          </a:p>
          <a:p>
            <a:pPr algn="l">
              <a:lnSpc>
                <a:spcPts val="2868"/>
              </a:lnSpc>
              <a:spcBef>
                <a:spcPct val="0"/>
              </a:spcBef>
            </a:pPr>
            <a:r>
              <a:rPr lang="en-US" sz="260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Additional modules: Bookmark storage, search, reopen closed page, and file export.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0660289" cy="11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45"/>
              </a:lnSpc>
              <a:spcBef>
                <a:spcPct val="0"/>
              </a:spcBef>
            </a:pPr>
            <a:r>
              <a:rPr lang="en-US" sz="7950">
                <a:solidFill>
                  <a:srgbClr val="2A4D9B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Features Implemented: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31820" y="2422980"/>
            <a:ext cx="11494967" cy="6835320"/>
          </a:xfrm>
          <a:custGeom>
            <a:avLst/>
            <a:gdLst/>
            <a:ahLst/>
            <a:cxnLst/>
            <a:rect r="r" b="b" t="t" l="l"/>
            <a:pathLst>
              <a:path h="6835320" w="11494967">
                <a:moveTo>
                  <a:pt x="0" y="0"/>
                </a:moveTo>
                <a:lnTo>
                  <a:pt x="11494966" y="0"/>
                </a:lnTo>
                <a:lnTo>
                  <a:pt x="11494966" y="6835320"/>
                </a:lnTo>
                <a:lnTo>
                  <a:pt x="0" y="6835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6" r="0" b="-591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3341672"/>
            <a:ext cx="8477250" cy="6527482"/>
          </a:xfrm>
          <a:custGeom>
            <a:avLst/>
            <a:gdLst/>
            <a:ahLst/>
            <a:cxnLst/>
            <a:rect r="r" b="b" t="t" l="l"/>
            <a:pathLst>
              <a:path h="6527482" w="8477250">
                <a:moveTo>
                  <a:pt x="0" y="0"/>
                </a:moveTo>
                <a:lnTo>
                  <a:pt x="8477250" y="0"/>
                </a:lnTo>
                <a:lnTo>
                  <a:pt x="8477250" y="6527482"/>
                </a:lnTo>
                <a:lnTo>
                  <a:pt x="0" y="652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33425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A4D9B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Output Screenshots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44010" y="2174208"/>
            <a:ext cx="7191375" cy="227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3"/>
              </a:lnSpc>
            </a:pPr>
            <a:r>
              <a:rPr lang="en-US" sz="25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user interface features </a:t>
            </a:r>
            <a:r>
              <a:rPr lang="en-US" b="true" sz="257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intuitive navigation buttons</a:t>
            </a:r>
            <a:r>
              <a:rPr lang="en-US" sz="25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that allow users to move back and forth through their browsing history seamlessly, enhancing overall user experience and accessibility.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514475"/>
            <a:ext cx="719137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700">
                <a:solidFill>
                  <a:srgbClr val="4478C0"/>
                </a:solidFill>
                <a:latin typeface="DM Sans Bold"/>
                <a:ea typeface="DM Sans Bold"/>
                <a:cs typeface="DM Sans Bold"/>
                <a:sym typeface="DM Sans Bold"/>
              </a:rPr>
              <a:t>NAVIGATION BUTTONS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4010" y="5964242"/>
            <a:ext cx="7191375" cy="227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3"/>
              </a:lnSpc>
            </a:pPr>
            <a:r>
              <a:rPr lang="en-US" sz="25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dynamic visualization of the stack state provides users with </a:t>
            </a:r>
            <a:r>
              <a:rPr lang="en-US" b="true" sz="257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feedback</a:t>
            </a:r>
            <a:r>
              <a:rPr lang="en-US" sz="25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on their navigation history, illustrating how pages are pushed and popped to maintain accurate and efficient browsing paths.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892040"/>
            <a:ext cx="719137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700">
                <a:solidFill>
                  <a:srgbClr val="4478C0"/>
                </a:solidFill>
                <a:latin typeface="DM Sans Bold"/>
                <a:ea typeface="DM Sans Bold"/>
                <a:cs typeface="DM Sans Bold"/>
                <a:sym typeface="DM Sans Bold"/>
              </a:rPr>
              <a:t>STACK STATE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828750"/>
            <a:ext cx="4383809" cy="2454933"/>
          </a:xfrm>
          <a:custGeom>
            <a:avLst/>
            <a:gdLst/>
            <a:ahLst/>
            <a:cxnLst/>
            <a:rect r="r" b="b" t="t" l="l"/>
            <a:pathLst>
              <a:path h="2454933" w="4383809">
                <a:moveTo>
                  <a:pt x="0" y="0"/>
                </a:moveTo>
                <a:lnTo>
                  <a:pt x="4383809" y="0"/>
                </a:lnTo>
                <a:lnTo>
                  <a:pt x="4383809" y="2454933"/>
                </a:lnTo>
                <a:lnTo>
                  <a:pt x="0" y="245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54162" y="4828750"/>
            <a:ext cx="4145479" cy="2454933"/>
          </a:xfrm>
          <a:custGeom>
            <a:avLst/>
            <a:gdLst/>
            <a:ahLst/>
            <a:cxnLst/>
            <a:rect r="r" b="b" t="t" l="l"/>
            <a:pathLst>
              <a:path h="2454933" w="4145479">
                <a:moveTo>
                  <a:pt x="0" y="0"/>
                </a:moveTo>
                <a:lnTo>
                  <a:pt x="4145479" y="0"/>
                </a:lnTo>
                <a:lnTo>
                  <a:pt x="4145479" y="2454933"/>
                </a:lnTo>
                <a:lnTo>
                  <a:pt x="0" y="245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185" t="0" r="-45981" b="-1987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66416" y="4828750"/>
            <a:ext cx="3392025" cy="2442258"/>
          </a:xfrm>
          <a:custGeom>
            <a:avLst/>
            <a:gdLst/>
            <a:ahLst/>
            <a:cxnLst/>
            <a:rect r="r" b="b" t="t" l="l"/>
            <a:pathLst>
              <a:path h="2442258" w="3392025">
                <a:moveTo>
                  <a:pt x="0" y="0"/>
                </a:moveTo>
                <a:lnTo>
                  <a:pt x="3392025" y="0"/>
                </a:lnTo>
                <a:lnTo>
                  <a:pt x="3392025" y="2442258"/>
                </a:lnTo>
                <a:lnTo>
                  <a:pt x="0" y="2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04765" y="4828750"/>
            <a:ext cx="3910985" cy="2442258"/>
          </a:xfrm>
          <a:custGeom>
            <a:avLst/>
            <a:gdLst/>
            <a:ahLst/>
            <a:cxnLst/>
            <a:rect r="r" b="b" t="t" l="l"/>
            <a:pathLst>
              <a:path h="2442258" w="3910985">
                <a:moveTo>
                  <a:pt x="0" y="0"/>
                </a:moveTo>
                <a:lnTo>
                  <a:pt x="3910985" y="0"/>
                </a:lnTo>
                <a:lnTo>
                  <a:pt x="3910985" y="2442258"/>
                </a:lnTo>
                <a:lnTo>
                  <a:pt x="0" y="2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14" t="0" r="-1505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459858"/>
            <a:ext cx="10508324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2A4D9B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Future Enhancements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578" y="1988035"/>
            <a:ext cx="17119458" cy="146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  <a:spcBef>
                <a:spcPct val="0"/>
              </a:spcBef>
            </a:pPr>
            <a:r>
              <a:rPr lang="en-US" sz="3464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This section explores how integrating tabbed browsing can enhance user experience, allowing users to navigate seamlessly across multiple pages without losing track of their history.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914869"/>
            <a:ext cx="409122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Add support for multiple tab browsing.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37627" y="3541605"/>
            <a:ext cx="4262014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Introduce private/incognito browsing mode.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70293" y="3914869"/>
            <a:ext cx="3532758" cy="73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20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Enable synchronization of bookmarks 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60154" y="3872427"/>
            <a:ext cx="3755596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Include graphical user interface (GUI).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0778" y="3241220"/>
            <a:ext cx="796706" cy="781952"/>
            <a:chOff x="0" y="0"/>
            <a:chExt cx="685800" cy="673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2A4D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74239" y="6476233"/>
            <a:ext cx="796706" cy="781952"/>
            <a:chOff x="0" y="0"/>
            <a:chExt cx="685800" cy="673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2A4D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07483" y="4327972"/>
            <a:ext cx="9666756" cy="214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096"/>
              </a:lnSpc>
              <a:spcBef>
                <a:spcPct val="0"/>
              </a:spcBef>
            </a:pPr>
            <a:r>
              <a:rPr lang="en-US" sz="16096" strike="noStrike" u="none">
                <a:solidFill>
                  <a:srgbClr val="2A4D9B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Browser Navigation</dc:description>
  <dc:identifier>DAG60uBmXIg</dc:identifier>
  <dcterms:modified xsi:type="dcterms:W3CDTF">2011-08-01T06:04:30Z</dcterms:modified>
  <cp:revision>1</cp:revision>
  <dc:title>Presentation - Browser Navigation</dc:title>
</cp:coreProperties>
</file>